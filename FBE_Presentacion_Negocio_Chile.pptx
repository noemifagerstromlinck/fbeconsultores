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8C5C"/>
    <a:srgbClr val="D0C3A9"/>
    <a:srgbClr val="96A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7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aximiliano.Fagerstrom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057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FAGERSTROM BUSINESS EXCELLENCE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Excelencia operacional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 negocio para pymes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grandes empresas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mejora continua para empresas en todo Chile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715000"/>
            <a:ext cx="1005840" cy="0"/>
          </a:xfrm>
          <a:prstGeom prst="line">
            <a:avLst/>
          </a:prstGeom>
          <a:noFill/>
          <a:ln w="38100">
            <a:solidFill>
              <a:srgbClr val="A6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años de experiencia en mejora continua  ·  fbe.cl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Convertimos la mejora continua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resultados medibles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FBE es una consultora enfocada en excelencia operacional y de negocio, con foco B2B en pymes y grandes empresas a lo largo de Chile. Traducimos más de una década de experiencia en mejora continua en diagnósticos, herramientas y proyectos que se implementan, no que se archivan.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114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mejora continua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9776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4114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9748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pymes y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9776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4114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nacional,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Arica a Punta Arenas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822960"/>
            <a:ext cx="4572000" cy="4846320"/>
          </a:xfrm>
          <a:prstGeom prst="roundRect">
            <a:avLst>
              <a:gd name="adj" fmla="val 2000"/>
            </a:avLst>
          </a:prstGeom>
          <a:solidFill>
            <a:srgbClr val="12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ENFOQUE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719072"/>
            <a:ext cx="128016" cy="128016"/>
          </a:xfrm>
          <a:prstGeom prst="ellipse">
            <a:avLst/>
          </a:prstGeom>
          <a:solidFill>
            <a:srgbClr val="A68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riguroso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18928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Levantamos procesos y datos antes de proponer soluciones.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2770632"/>
            <a:ext cx="128016" cy="128016"/>
          </a:xfrm>
          <a:prstGeom prst="ellipse">
            <a:avLst/>
          </a:prstGeom>
          <a:solidFill>
            <a:srgbClr val="A68C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real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29443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Acompañamos la ejecución, no solo la recomendación.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3822192"/>
            <a:ext cx="128016" cy="128016"/>
          </a:xfrm>
          <a:prstGeom prst="ellipse">
            <a:avLst/>
          </a:prstGeom>
          <a:solidFill>
            <a:srgbClr val="A68C5C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propias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39959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Desarrollamos apps y tableros a medida para cada cliente.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pilares que sostienen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057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basado en datos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Levantamientos de procesos, mapeo de flujos y análisis cuantitativo antes de recomendar cualquier cambio.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514600"/>
            <a:ext cx="685800" cy="685800"/>
          </a:xfrm>
          <a:prstGeom prst="ellipse">
            <a:avLst/>
          </a:prstGeom>
          <a:solidFill>
            <a:srgbClr val="0057A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acompañada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entregamos solo un informe: acompañamos la puesta en marcha y medimos el impacto real.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514600"/>
            <a:ext cx="685800" cy="685800"/>
          </a:xfrm>
          <a:prstGeom prst="ellipse">
            <a:avLst/>
          </a:prstGeom>
          <a:solidFill>
            <a:srgbClr val="0057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digitales a medida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Aplicaciones, cotizadores y tableros propios que quedan operando dentro de tu empresa.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hacemos por tu empresa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Levantamiento de procesos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AS-IS/TO-BE, BPMN y detección de cuellos de botella.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697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 continua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Kaizen, Lean y Six Sigma aplicados a operaciones reales.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697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31546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TAM/SAM/SOM por zona para nuevas iniciativas.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74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de servicios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55321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tarificación por hora y por proyecto.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2062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5074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digitales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0" y="55321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internas, tableros y automatizaciones a medida.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68C5C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5074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de equipos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55321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metodología para sostener el cambio.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probado, de punta a punta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446020" cy="3108960"/>
          </a:xfrm>
          <a:prstGeom prst="roundRect">
            <a:avLst>
              <a:gd name="adj" fmla="val 2991"/>
            </a:avLst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06040"/>
            <a:ext cx="19888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988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19888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procesos, datos y percepción de los equipos.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154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97580" y="2377440"/>
            <a:ext cx="2446020" cy="3108960"/>
          </a:xfrm>
          <a:prstGeom prst="roundRect">
            <a:avLst>
              <a:gd name="adj" fmla="val 2991"/>
            </a:avLst>
          </a:prstGeom>
          <a:solidFill>
            <a:srgbClr val="0B3D66"/>
          </a:solidFill>
          <a:ln/>
        </p:spPr>
      </p:sp>
      <p:sp>
        <p:nvSpPr>
          <p:cNvPr id="10" name="Text 8"/>
          <p:cNvSpPr/>
          <p:nvPr/>
        </p:nvSpPr>
        <p:spPr>
          <a:xfrm>
            <a:off x="3726180" y="2606040"/>
            <a:ext cx="19888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26180" y="3246120"/>
            <a:ext cx="1988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6180" y="3749040"/>
            <a:ext cx="19888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brechas, causas raíz y oportunidades priorizadas.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446020" cy="3108960"/>
          </a:xfrm>
          <a:prstGeom prst="roundRect">
            <a:avLst>
              <a:gd name="adj" fmla="val 2991"/>
            </a:avLst>
          </a:prstGeom>
          <a:solidFill>
            <a:srgbClr val="0B3D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606040"/>
            <a:ext cx="19888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46520" y="3246120"/>
            <a:ext cx="1988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19888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a medida: proceso, herramienta o modelo de gestión.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222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38260" y="2377440"/>
            <a:ext cx="2446020" cy="3108960"/>
          </a:xfrm>
          <a:prstGeom prst="roundRect">
            <a:avLst>
              <a:gd name="adj" fmla="val 2991"/>
            </a:avLst>
          </a:prstGeom>
          <a:solidFill>
            <a:srgbClr val="0B3D66"/>
          </a:solidFill>
          <a:ln/>
        </p:spPr>
      </p:sp>
      <p:sp>
        <p:nvSpPr>
          <p:cNvPr id="20" name="Text 18"/>
          <p:cNvSpPr/>
          <p:nvPr/>
        </p:nvSpPr>
        <p:spPr>
          <a:xfrm>
            <a:off x="9166860" y="2606040"/>
            <a:ext cx="19888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66860" y="3246120"/>
            <a:ext cx="1988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66860" y="3749040"/>
            <a:ext cx="19888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en terreno y medición de resultados.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 de consultora nacional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foco en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68C5C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nacional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4414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atender proyectos en distintas regiones de Chile, sin intermediarios.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68C5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senior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4015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10 años de trayectoria en mejora continua aplicados a cada proyecto.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68C5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propia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3616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 desarrolladas in-house, no licencias genéricas.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68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en ejecución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321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éxito por adopción real, no por páginas de informe entregadas.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DEL NEGOCIO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</a:t>
            </a: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4766" y="1602439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$1,6 MUSD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5856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sin CAPEX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mediante iniciativas de mejora continua sin inversión de capital.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3674" y="137160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6554" y="1604772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 MUSD / mes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16554" y="225856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presupuestario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16554" y="256032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validación de costos de proyectos para la planta Lo Miranda.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0148" y="137160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3028" y="1606265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$250M / mes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93028" y="225856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consignación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93028" y="256032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integral de contratos de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consignación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86621" y="137160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69501" y="1606265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$600M+ / </a:t>
            </a:r>
            <a:r>
              <a:rPr lang="en-US" sz="1900" b="1" dirty="0" err="1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69501" y="225856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suministro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69501" y="256032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compras nacionales e internacionales.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4622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4766" y="4201668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</a:t>
            </a: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globales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93318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23494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Libre, Apple, Ford, Canon, Natura, Maersk,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Logistics,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Agrosuper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entre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3674" y="404622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55674" y="4201668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</a:t>
            </a: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Continua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16554" y="493318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16554" y="523494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 </a:t>
            </a:r>
            <a:r>
              <a:rPr lang="en-US" sz="9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 y evaluación de productividad multi-país.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0148" y="404622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93028" y="4279392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PMO + Control Tower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93028" y="493318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93028" y="523494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TMS, modelo 5S y automatización con Power BI / Power Apps.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086621" y="4046220"/>
            <a:ext cx="2647874" cy="2446020"/>
          </a:xfrm>
          <a:prstGeom prst="roundRect">
            <a:avLst>
              <a:gd name="adj" fmla="val 2617"/>
            </a:avLst>
          </a:prstGeom>
          <a:solidFill>
            <a:srgbClr val="F4F6F9"/>
          </a:solidFill>
          <a:ln/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269501" y="4238244"/>
            <a:ext cx="22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8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9001 · 14001</a:t>
            </a:r>
            <a:endParaRPr lang="en-US" sz="1900" dirty="0">
              <a:solidFill>
                <a:srgbClr val="A68C5C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9269501" y="4933188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Recertificación 2018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269501" y="5234940"/>
            <a:ext cx="228211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Implementador y líder del proceso de recertificación de normas de calidad.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 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que se pueden medir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ciclo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103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</a:rPr>
              <a:t>14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85216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2103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57A0"/>
                </a:solidFill>
                <a:latin typeface="Cambria" pitchFamily="34" charset="0"/>
                <a:ea typeface="Cambria" pitchFamily="34" charset="-122"/>
              </a:rPr>
              <a:t>+70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0392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entregadas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realizados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223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a nivel nacional · foco B2B en pymes y grandes empresas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4231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Llevemos la mejora continua</a:t>
            </a:r>
            <a:endParaRPr lang="en-US" sz="36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 operación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1005840" cy="0"/>
          </a:xfrm>
          <a:prstGeom prst="line">
            <a:avLst/>
          </a:prstGeom>
          <a:noFill/>
          <a:ln w="38100">
            <a:solidFill>
              <a:srgbClr val="A6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97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Fagerstrom Business Excellence (FBE)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6A4B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maximiliano.Fagerstrom@gmail.com</a:t>
            </a:r>
            <a:r>
              <a:rPr lang="en-US" sz="1400" dirty="0">
                <a:solidFill>
                  <a:srgbClr val="96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678</Words>
  <Application>Microsoft Office PowerPoint</Application>
  <PresentationFormat>Panorámica</PresentationFormat>
  <Paragraphs>144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Fagerstrom Business Excellence</dc:creator>
  <cp:lastModifiedBy>Maximiliano Fagerstrom</cp:lastModifiedBy>
  <cp:revision>4</cp:revision>
  <dcterms:created xsi:type="dcterms:W3CDTF">2026-08-09T23:32:04Z</dcterms:created>
  <dcterms:modified xsi:type="dcterms:W3CDTF">2026-08-10T19:43:44Z</dcterms:modified>
</cp:coreProperties>
</file>